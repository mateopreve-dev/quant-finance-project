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397b72ca-9446-e49d-aa69-b5c6dd10c7db}">
          <p14:sldIdLst>
            <p14:sldId id="256"/>
            <p14:sldId id="257"/>
          </p14:sldIdLst>
        </p14:section>
        <p14:section name="Full sample" id="{dff63ff3-8283-5a14-c787-83c538c62aaf}">
          <p14:sldIdLst>
            <p14:sldId id="258"/>
            <p14:sldId id="259"/>
            <p14:sldId id="260"/>
          </p14:sldIdLst>
        </p14:section>
        <p14:section name="Out of sample" id="{a8c44e90-1d40-25fd-d3b6-a9a46b930b35}">
          <p14:sldIdLst>
            <p14:sldId id="261"/>
            <p14:sldId id="262"/>
            <p14:sldId id="263"/>
            <p14:sldId id="264"/>
          </p14:sldIdLst>
        </p14:section>
        <p14:section name="Conclusion" id="{f0d8085f-ce6c-3c38-01da-e8610f023225}">
          <p14:sldIdLst>
            <p14:sldId id="26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103120"/>
            <a:ext cx="1069848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749040"/>
            <a:ext cx="1069848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000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2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103120"/>
            <a:ext cx="10698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tx1"/>
                </a:solidFill>
              </a:rPr>
              <a:t>Estimating Covariance Matrices with Factors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749040"/>
            <a:ext cx="10698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chemeClr val="tx2"/>
                </a:solidFill>
              </a:rPr>
              <a:t>Project 3 · Quantitative Finance</a:t>
            </a:r>
            <a:endParaRPr lang="en-US" sz="2000" dirty="0"/>
          </a:p>
          <a:p>
            <a:pPr algn="l" indent="0" marL="0">
              <a:buNone/>
            </a:pPr>
            <a:r>
              <a:rPr lang="en-US" sz="2000" dirty="0">
                <a:solidFill>
                  <a:schemeClr val="tx2"/>
                </a:solidFill>
              </a:rPr>
              <a:t>30 stocks, daily returns, 2016–2025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Method: replace the sample matrix with a six-factor structure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554480"/>
            <a:ext cx="676656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Regress each stock's daily excess return on Mkt-RF, SMB, HML, RMW, CMA and Mom (Ken French Data Library)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Covariance matrix: Σ = B Ω B′ + D, with betas B, factor covariance Ω and diagonal residual variances D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Minimum-variance portfolio: w = Σ⁻¹1 / 1′Σ⁻¹1, short sales allowed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Concentration measured by the maximum weight and the effective number of positions 1 / Σ w²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8138160" y="1737360"/>
            <a:ext cx="3474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chemeClr val="tx1"/>
                </a:solidFill>
              </a:rPr>
              <a:t>465</a:t>
            </a:r>
            <a:endParaRPr lang="en-US" sz="5400" dirty="0"/>
          </a:p>
        </p:txBody>
      </p:sp>
      <p:sp>
        <p:nvSpPr>
          <p:cNvPr id="5" name="Text 3"/>
          <p:cNvSpPr txBox="1"/>
          <p:nvPr/>
        </p:nvSpPr>
        <p:spPr>
          <a:xfrm>
            <a:off x="8138160" y="2651760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free parameters in the sample matrix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8138160" y="3840480"/>
            <a:ext cx="3474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chemeClr val="tx1"/>
                </a:solidFill>
              </a:rPr>
              <a:t>231</a:t>
            </a:r>
            <a:endParaRPr lang="en-US" sz="5400" dirty="0"/>
          </a:p>
        </p:txBody>
      </p:sp>
      <p:sp>
        <p:nvSpPr>
          <p:cNvPr id="7" name="Text 5"/>
          <p:cNvSpPr txBox="1"/>
          <p:nvPr/>
        </p:nvSpPr>
        <p:spPr>
          <a:xfrm>
            <a:off x="8138160" y="4754880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in the factor model (betas, factor moments, residual variances)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Full sample: the factor MVP is not less concentrated</a:t>
            </a:r>
            <a:endParaRPr lang="en-US" sz="28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45920"/>
          <a:ext cx="6583680" cy="914400"/>
        </p:xfrm>
        <a:graphic>
          <a:graphicData uri="http://schemas.openxmlformats.org/drawingml/2006/table">
            <a:tbl>
              <a:tblPr/>
              <a:tblGrid>
                <a:gridCol w="3474720"/>
                <a:gridCol w="1554480"/>
                <a:gridCol w="1554480"/>
              </a:tblGrid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6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Sample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Factor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Annualized volatility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13.1%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14.8%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Annualized return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12.2%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8.6%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Maximum weight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16.3%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17.7%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Minimum weight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-7.6%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-8.7%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Effective number of positions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5.87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5.55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Short positions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14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7680960" y="1737360"/>
            <a:ext cx="393192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Effective N is 5.6 for the factor MVP vs 5.9 for the sample MVP, and its largest position is bigger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The sample MVP has lower realized volatility, as it must: it is the exact minimizer of variance on this same data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The factor MVP has fewer short positions (10 vs 14)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The factor MVP piles into staples and utilities</a:t>
            </a:r>
            <a:endParaRPr lang="en-US" sz="2800" dirty="0"/>
          </a:p>
        </p:txBody>
      </p:sp>
      <p:pic>
        <p:nvPicPr>
          <p:cNvPr id="3" name="Image 0" descr="part3_full_sample_weight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325880"/>
            <a:ext cx="10515600" cy="478231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8640" y="617220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Factor MVP: KO 15.9%, PG 13.5%, DUK 13.0%, NEE 7.1% (sample MVP: 12.4%, 6.8%, 8.5%, −3.1%)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Why: six style factors miss industry co-movement</a:t>
            </a:r>
            <a:endParaRPr lang="en-US" sz="28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45920"/>
          <a:ext cx="5120640" cy="914400"/>
        </p:xfrm>
        <a:graphic>
          <a:graphicData uri="http://schemas.openxmlformats.org/drawingml/2006/table">
            <a:tbl>
              <a:tblPr/>
              <a:tblGrid>
                <a:gridCol w="2560320"/>
                <a:gridCol w="2560320"/>
              </a:tblGrid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Pair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Residual correlation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XOM – CVX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0.65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NEE – DUK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0.63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JPM – BAC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0.53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KO – DUK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0.46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PG – KO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0.44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PG – DUK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0.40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JNJ – PFE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0.37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6309360" y="1737360"/>
            <a:ext cx="530352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The factors explain only 44% of daily stock variance on average (R² from 0.20 for VZ to 0.78 for BAC)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The model sets every residual correlation to zero, but same-industry pairs still move together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So it treats KO, PG, DUK and NEE as independent and overweights them together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Industry factors (the optional extension) target exactly this gap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Out of sample: the sample matrix still has lower volatility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23444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Monthly rebalancing from Feb 2018; each month both matrices are estimated using only data before the rebalancing date</a:t>
            </a:r>
            <a:endParaRPr lang="en-US" sz="16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920240"/>
          <a:ext cx="11064240" cy="914400"/>
        </p:xfrm>
        <a:graphic>
          <a:graphicData uri="http://schemas.openxmlformats.org/drawingml/2006/table">
            <a:tbl>
              <a:tblPr/>
              <a:tblGrid>
                <a:gridCol w="3063240"/>
                <a:gridCol w="1600200"/>
                <a:gridCol w="1600200"/>
                <a:gridCol w="1600200"/>
                <a:gridCol w="1600200"/>
                <a:gridCol w="1600200"/>
              </a:tblGrid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6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Sample</a:t>
                      </a:r>
                      <a:endParaRPr lang="en-US" sz="1600" dirty="0"/>
                    </a:p>
                    <a:p>
                      <a:pPr algn="r" indent="0" marL="0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expanding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Factor</a:t>
                      </a:r>
                      <a:endParaRPr lang="en-US" sz="1600" dirty="0"/>
                    </a:p>
                    <a:p>
                      <a:pPr algn="r" indent="0" marL="0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expanding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Sample</a:t>
                      </a:r>
                      <a:endParaRPr lang="en-US" sz="1600" dirty="0"/>
                    </a:p>
                    <a:p>
                      <a:pPr algn="r" indent="0" marL="0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1-year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Factor</a:t>
                      </a:r>
                      <a:endParaRPr lang="en-US" sz="1600" dirty="0"/>
                    </a:p>
                    <a:p>
                      <a:pPr algn="r" indent="0" marL="0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1-year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Equal</a:t>
                      </a:r>
                      <a:endParaRPr lang="en-US" sz="1600" dirty="0"/>
                    </a:p>
                    <a:p>
                      <a:pPr algn="r" indent="0" marL="0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weight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Annualized volatility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15.5%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16.6%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15.3%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15.4%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18.4%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Annualized return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8.8%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6.3%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7.9%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4.9%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15.2%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Sharpe ratio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0.36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0.20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0.31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0.13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0.62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Average effective N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5.3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5.4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4.4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6.0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30.0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Average max |weight|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20.6%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19.8%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27.9%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23.7%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3.3%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Average monthly turnover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7.4%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6.0%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30.3%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17.3%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2.3%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Estimation error shrinks the sample matrix's advantage</a:t>
            </a:r>
            <a:endParaRPr lang="en-US" sz="28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45920"/>
          <a:ext cx="11064240" cy="914400"/>
        </p:xfrm>
        <a:graphic>
          <a:graphicData uri="http://schemas.openxmlformats.org/drawingml/2006/table">
            <a:tbl>
              <a:tblPr/>
              <a:tblGrid>
                <a:gridCol w="5029200"/>
                <a:gridCol w="2011680"/>
                <a:gridCol w="2011680"/>
                <a:gridCol w="2011680"/>
              </a:tblGrid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Volatility, Feb 2018 – Dec 2025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Sample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Factor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Gap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Full-sample weights (look-ahead)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14.1%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15.8%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1.8 pp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Out of sample, expanding window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15.5%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16.6%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1.1 pp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Out of sample, 1-year window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15.3%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15.4%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0.0 pp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48640" y="4206240"/>
            <a:ext cx="110642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Expected: in-sample volatility is optimistic, and more so for the 465-parameter matrix that fits noise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Found: out of sample, volatility rises 1.5 pp for the sample MVP and 0.8 pp for the factor MVP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With an expanding window there is enough data for the sample matrix (T/N from 17 to 84), so it still wins; with a 1-year window the gap disappears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With a short window, factors keep weights diversified and stable</a:t>
            </a:r>
            <a:endParaRPr lang="en-US" sz="2800" dirty="0"/>
          </a:p>
        </p:txBody>
      </p:sp>
      <p:pic>
        <p:nvPicPr>
          <p:cNvPr id="3" name="Image 0" descr="part3_effective_n_oo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25880"/>
            <a:ext cx="7616952" cy="484632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8503920" y="1645920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tx1"/>
                </a:solidFill>
              </a:rPr>
              <a:t>6.0 vs 4.4</a:t>
            </a:r>
            <a:endParaRPr lang="en-US" sz="4000" dirty="0"/>
          </a:p>
        </p:txBody>
      </p:sp>
      <p:sp>
        <p:nvSpPr>
          <p:cNvPr id="5" name="Text 2"/>
          <p:cNvSpPr txBox="1"/>
          <p:nvPr/>
        </p:nvSpPr>
        <p:spPr>
          <a:xfrm>
            <a:off x="8503920" y="256032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average effective N, factor vs sample, 1-year window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8503920" y="3749040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tx1"/>
                </a:solidFill>
              </a:rPr>
              <a:t>17% vs 30%</a:t>
            </a:r>
            <a:endParaRPr lang="en-US" sz="4000" dirty="0"/>
          </a:p>
        </p:txBody>
      </p:sp>
      <p:sp>
        <p:nvSpPr>
          <p:cNvPr id="7" name="Text 4"/>
          <p:cNvSpPr txBox="1"/>
          <p:nvPr/>
        </p:nvSpPr>
        <p:spPr>
          <a:xfrm>
            <a:off x="8503920" y="466344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average monthly turnover, factor vs sample, 1-year window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Both MVPs cut risk relative to equal weight, at a cost in return</a:t>
            </a:r>
            <a:endParaRPr lang="en-US" sz="2800" dirty="0"/>
          </a:p>
        </p:txBody>
      </p:sp>
      <p:pic>
        <p:nvPicPr>
          <p:cNvPr id="3" name="Image 0" descr="part3_oos_growth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463040"/>
            <a:ext cx="8046720" cy="365760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8961120" y="164592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chemeClr val="tx1"/>
                </a:solidFill>
              </a:rPr>
              <a:t>15.5%</a:t>
            </a:r>
            <a:endParaRPr lang="en-US" sz="5400" dirty="0"/>
          </a:p>
        </p:txBody>
      </p:sp>
      <p:sp>
        <p:nvSpPr>
          <p:cNvPr id="5" name="Text 2"/>
          <p:cNvSpPr txBox="1"/>
          <p:nvPr/>
        </p:nvSpPr>
        <p:spPr>
          <a:xfrm>
            <a:off x="8961120" y="256032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volatility, sample MVP (expanding) vs 18.4% for equal weight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8961120" y="374904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chemeClr val="tx1"/>
                </a:solidFill>
              </a:rPr>
              <a:t>8.8%</a:t>
            </a:r>
            <a:endParaRPr lang="en-US" sz="5400" dirty="0"/>
          </a:p>
        </p:txBody>
      </p:sp>
      <p:sp>
        <p:nvSpPr>
          <p:cNvPr id="7" name="Text 4"/>
          <p:cNvSpPr txBox="1"/>
          <p:nvPr/>
        </p:nvSpPr>
        <p:spPr>
          <a:xfrm>
            <a:off x="8961120" y="466344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annual return, sample MVP vs 15.2% for equal weight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Conclusions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554480"/>
            <a:ext cx="11064240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chemeClr val="tx1"/>
                </a:solidFill>
              </a:rPr>
              <a:t>1.  Full sample: the factor MVP is not less concentrated (effective N 5.6 vs 5.9), and its volatility is higher by construction</a:t>
            </a:r>
            <a:endParaRPr lang="en-US" sz="18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chemeClr val="tx1"/>
                </a:solidFill>
              </a:rPr>
              <a:t>2.  Six style factors leave industry co-movement in the residuals, which the model treats as diversifiable</a:t>
            </a:r>
            <a:endParaRPr lang="en-US" sz="18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chemeClr val="tx1"/>
                </a:solidFill>
              </a:rPr>
              <a:t>3.  Out of sample, the sample matrix's volatility advantage shrinks from 1.8 pp to 1.1 pp (expanding window) and to zero (1-year window)</a:t>
            </a:r>
            <a:endParaRPr lang="en-US" sz="18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chemeClr val="tx1"/>
                </a:solidFill>
              </a:rPr>
              <a:t>4.  When estimation error matters most, the factor matrix gives the same risk with more diversified, lower-turnover weights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5.  Next step: add the 5 industry factors to capture the missing correlation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lain Black and White">
  <a:themeElements>
    <a:clrScheme name="Plain Black and White">
      <a:dk1>
        <a:srgbClr val="000000"/>
      </a:dk1>
      <a:lt1>
        <a:srgbClr val="FFFFFF"/>
      </a:lt1>
      <a:dk2>
        <a:srgbClr val="404040"/>
      </a:dk2>
      <a:lt2>
        <a:srgbClr val="F2F2F2"/>
      </a:lt2>
      <a:accent1>
        <a:srgbClr val="000000"/>
      </a:accent1>
      <a:accent2>
        <a:srgbClr val="595959"/>
      </a:accent2>
      <a:accent3>
        <a:srgbClr val="808080"/>
      </a:accent3>
      <a:accent4>
        <a:srgbClr val="A6A6A6"/>
      </a:accent4>
      <a:accent5>
        <a:srgbClr val="BFBFBF"/>
      </a:accent5>
      <a:accent6>
        <a:srgbClr val="D9D9D9"/>
      </a:accent6>
      <a:hlink>
        <a:srgbClr val="000000"/>
      </a:hlink>
      <a:folHlink>
        <a:srgbClr val="404040"/>
      </a:folHlink>
    </a:clrScheme>
    <a:fontScheme name="Plain Black and Whit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Project 3: Estimating Covariance Matrices with Factors</dc:title>
  <dc:subject>PptxGenJS Presentation</dc:subject>
  <dc:creator>PptxGenJS</dc:creator>
  <cp:lastModifiedBy>PptxGenJS</cp:lastModifiedBy>
  <cp:revision>1</cp:revision>
  <dcterms:created xsi:type="dcterms:W3CDTF">2026-10-25T15:45:27Z</dcterms:created>
  <dcterms:modified xsi:type="dcterms:W3CDTF">2026-10-25T15:45:27Z</dcterms:modified>
</cp:coreProperties>
</file>